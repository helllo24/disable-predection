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MCA FINAL-YEAR PROJECT PRESENTATION</a:t>
            </a:r>
          </a:p>
          <a:p>
            <a:pPr algn="ctr">
              <a:spcBef>
                <a:spcPts val="1500"/>
              </a:spcBef>
              <a:defRPr sz="3200" b="1">
                <a:solidFill>
                  <a:srgbClr val="FFFFFF"/>
                </a:solidFill>
              </a:defRPr>
            </a:pPr>
            <a:r>
              <a:t>Diabetes Prediction Using Machine Learning</a:t>
            </a:r>
          </a:p>
          <a:p>
            <a:pPr algn="ctr">
              <a:spcBef>
                <a:spcPts val="1000"/>
              </a:spcBef>
              <a:defRPr sz="1500">
                <a:solidFill>
                  <a:srgbClr val="CBD5E1"/>
                </a:solidFill>
              </a:defRPr>
            </a:pPr>
            <a:r>
              <a:t>Multi-Dataset External Validation, Secondary Complication Risk Assessment &amp; Production Web Architecture</a:t>
            </a:r>
          </a:p>
          <a:p>
            <a:pPr algn="ctr">
              <a:spcBef>
                <a:spcPts val="3500"/>
              </a:spcBef>
              <a:defRPr sz="1200" i="1">
                <a:solidFill>
                  <a:srgbClr val="64748B"/>
                </a:solidFill>
              </a:defRPr>
            </a:pPr>
            <a:r>
              <a:t>Department of Computer Applications &amp; Healthcare Intelligence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MCA FINAL YEAR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1. Introduction &amp; Research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Global Diabetes Healthcare Crisis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Over 537 million adults globally live with diabetes, projected to reach 783 million by 2045 (WHO &amp; IDF).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Persistent hyperglycemia causes progressive vascular damage leading to severe multi-organ complications.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Early detection and risk stratification are crucial for clinical intervention and avoiding end-stage disease.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9488"/>
                </a:solidFill>
              </a:defRPr>
            </a:pPr>
            <a:r>
              <a:t>6 Secondary Micro &amp; Macro Complications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Cardiovascular Disease (Heart): 2-4x higher cardiac risk.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Diabetic Nephropathy (Kidney): Primary cause of End-Stage Renal Disease.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Diabetic Neuropathy (Nerve): Affects ~50% of long-term patients.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Diabetic Retinopathy (Eye): Leading cause of working-age blindness.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Diabetic Foot Ulcer &amp; Peripheral Vascular Disease: Severe amputation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MCA FINAL YEAR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2. Problem Statement &amp; Literature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Gap 1: Internal Validation Optimism Bias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Existing studies report only single-dataset internal cross-validation (e.g., Pima). In real-world deployment, models suffer up to ~9.7%+ performance drop due to population distribution shift.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Gap 2: Demographic Subgroup Age Fairness Crisis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Standard ML models report aggregate overall AUC, hiding severe age-related disparities. Older adults (≥60 yrs) often receive lower predictive reliability despite highest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Gap 3: Absence of Probability Calibration &amp; TRIPOD-AI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Models neglect probability calibration (Brier scores) and fail to follow standardized reporting guidelines like TRIPOD-AI, impeding clinical translation.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MCA FINAL YEAR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3. Research Objectives &amp; System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Contribution #1: Novel PRF-BXGBOOST Feature Selection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Combines Boruta shadow feature random permutation with XGBoost gain scores to eliminate noise.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Contribution #2: 6-Organ Complication Prediction Suite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Evaluates primary diabetes + 6 secondary micro/macrovascular complications simultaneously.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Contribution #3: Zero-Shot Multi-Dataset Validation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Trains on Pima Indians (n=768) &amp; tests externally on Mendeley Diabetes (n=1,168).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3192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Contribution #4: Age &amp; Sex Demographic Fairness Audit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Quantifies subgroup performance gaps and evaluates Bilionis et al.'s Systematic Arbitrariness Index.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MCA FINAL YEAR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4. Clinical Datasets &amp; Multi-Cohort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4114800"/>
                <a:gridCol w="2041855"/>
              </a:tblGrid>
              <a:tr h="914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Dataset Domain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Sample Count (n)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Key Clinical Features Extracted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Source / Transfer 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Pima Indians Diabetes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 = 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Glucose, BMI, Age, Pregnancies, Insulin, BP, DPF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Primary Training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Mendeley Diabetes Cohort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 = 1,168 (771-, 397+)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Routine diagnostic measures, Age (21-81), Sex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External Test Cohort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Cardiovascular &amp; CKD Repositories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 = 303 (Heart) / 400 (CKD)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Serum Creatinine, Blood Urea, Cholesterol, Max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Complication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Retinopathy &amp; Foot Ulcer Repositories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 = 1,151 (Eye) / 450 (Foot)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Microaneurysms, Exudate Area, LOPS, ABI Index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Complication Benchmark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MCA FINAL YEAR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5. Proposed PRF-BXGBOOST Feature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0F172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Patient Risk Factor Boruta-XGBoost (PRF-BXGBOOST) Algorithm Pseudocode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Courier New"/>
              </a:defRPr>
            </a:pPr>
            <a:r>
              <a:t>1: Extend Clinical Feature Matrix X by creating shadow features X_shadow = Shuffle(X)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Courier New"/>
              </a:defRPr>
            </a:pPr>
            <a:r>
              <a:t>2: For iteration m = 1 to M (100) do: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Courier New"/>
              </a:defRPr>
            </a:pPr>
            <a:r>
              <a:t>3:     Train XGBoost Classifier on combined feature matrix [X, X_shadow]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Courier New"/>
              </a:defRPr>
            </a:pPr>
            <a:r>
              <a:t>4:     Calculate Gain Feature Importance Z_real for original features &amp; Z_shadow for noise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Courier New"/>
              </a:defRPr>
            </a:pPr>
            <a:r>
              <a:t>5:     Find maximum shadow noise threshold Z_max = Max(Z_shadow)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Courier New"/>
              </a:defRPr>
            </a:pPr>
            <a:r>
              <a:t>6:     For each real feature f in X: If Z_real(f) &gt; Z_max -&gt; Increment Hits(f)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Courier New"/>
              </a:defRPr>
            </a:pPr>
            <a:r>
              <a:t>7: Perform two-sided binomial test on Hits(f) against expected median chance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Courier New"/>
              </a:defRPr>
            </a:pPr>
            <a:r>
              <a:t>8: Assign Status: Confirmed (f &gt; Z_threshold), Tentative, or Rejected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Courier New"/>
              </a:defRPr>
            </a:pPr>
            <a:r>
              <a:t>9: Return Optimal Clinical Feature Set S_opt = { f | Status(f) == Confirmed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MCA FINAL YEAR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6. Multi-Tiered System &amp; ML Architecture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3A8A"/>
                </a:solidFill>
              </a:defRPr>
            </a:pPr>
            <a:r>
              <a:t>Step 1: Data Ingestion: </a:t>
            </a:r>
            <a:r>
              <a:rPr b="0" sz="1300">
                <a:solidFill>
                  <a:srgbClr val="1E293B"/>
                </a:solidFill>
              </a:rPr>
              <a:t>Pima (n=768) + Mendeley (n=1,168) + 6 Complication Repositories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3A8A"/>
                </a:solidFill>
              </a:defRPr>
            </a:pPr>
            <a:r>
              <a:t>Step 2: Preprocessing &amp; PRF-BXGBOOST: </a:t>
            </a:r>
            <a:r>
              <a:rPr b="0" sz="1300">
                <a:solidFill>
                  <a:srgbClr val="1E293B"/>
                </a:solidFill>
              </a:rPr>
              <a:t>Standardization, median imputation &amp; Boruta Z-score feature ranking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3A8A"/>
                </a:solidFill>
              </a:defRPr>
            </a:pPr>
            <a:r>
              <a:t>Step 3: Multi-Tiered ML Classification: </a:t>
            </a:r>
            <a:r>
              <a:rPr b="0" sz="1300">
                <a:solidFill>
                  <a:srgbClr val="1E293B"/>
                </a:solidFill>
              </a:rPr>
              <a:t>XGBoost + Random Forest + Multi-Class Logistic Regression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3A8A"/>
                </a:solidFill>
              </a:defRPr>
            </a:pPr>
            <a:r>
              <a:t>Step 4: Multi-Organ Risk Output: </a:t>
            </a:r>
            <a:r>
              <a:rPr b="0" sz="1300">
                <a:solidFill>
                  <a:srgbClr val="1E293B"/>
                </a:solidFill>
              </a:rPr>
              <a:t>Primary Diabetes + Heart, Kidney, Nerve, Eye, Foot, Vascular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3A8A"/>
                </a:solidFill>
              </a:defRPr>
            </a:pPr>
            <a:r>
              <a:t>Step 5: External Validation &amp; Fairness: </a:t>
            </a:r>
            <a:r>
              <a:rPr b="0" sz="1300">
                <a:solidFill>
                  <a:srgbClr val="1E293B"/>
                </a:solidFill>
              </a:rPr>
              <a:t>Optimism Bias (ΔAUC) + Age/Sex Subgroup Fairness + TRIPOD-AI Audit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MCA FINAL YEAR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7. Production Web Architecture &amp; Engineering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Frontend Layer (React 18 SPA)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React.js 18, Vite, Axios, React Router v6, Lucide Icons, Healthcare Design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Backend Layer (Python FastAPI)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FastAPI 0.110+, SQLAlchemy 2.0, Pydantic v2, PyJWT Security, Bcrypt Hashing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Database Layer (Cloud Avion MySQL)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Cloud Hosted MySQL (smart_healthcare_db) with automatic fallback to local SQLite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3192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Report Engine (ReportLab PDF)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Generates downloadable patient health diagnostic reports (GET /api/reports/health)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MCA FINAL YEAR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8. 14 Core Production Engineering Modules (Parts 0–14)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Modular System Functionality (Parts 0 to 14):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✔ Part 0: Foundation API &amp; Health Status Endpoint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✔ Part 1 &amp; 2: JWT Auth &amp; Patient Health Profile Management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✔ Part 3: Imperial/Metric BMI Calculation &amp; History Engine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✔ Part 4: Primary Diabetes ML Prediction Engine (XGBoost)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✔ Part 5: Multi-Class Disease Symptom Prediction (132 Symptoms)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✔ Part 6: Transparent 0–100 Explainable Health Risk Score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✔ Part 7 &amp; 8: Tailored Diet &amp; Exercise Recommendation Engines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✔ Part 9: Medicine Schedule &amp; Medication Reminder Module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✔ Part 10: Doctor Directory &amp; Appointment Booking System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✔ Part 11: Downloadable Patient PDF Health Report Generator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✔ Part 12: Admin Management Console &amp; Account Status Toggle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✔ Part 13: Cloud Avion Hosted MySQL Database Integration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✔ Part 14: 6 Secondary Complication Risk Assessment Suite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MCA FINAL YEAR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9. Experimental Benchmark Results &amp; Model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65314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S.No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ML Classifier Algorithm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F1-Score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K-Nearest Neighbors (KNN)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72.15%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76.10%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71.89%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73.93%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Support Vector Machine (SVM)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75.13%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78.54%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72.78%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76.45%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Multi-Class 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76.45%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79.12%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74.97%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76.99%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Random Forest Classifier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77.23%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80.78%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75.54%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78.12%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Standard XGBoost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78.12%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81.57%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76.26%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78.83%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Proposed PRF-BXGBOOST Model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78.52% - 92.73%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81.20%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76.40%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78.73%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MCA FINAL YEAR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10. Multi-Dataset External Validation &amp; Optimism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Pima Internal CV AUC</a:t>
            </a:r>
          </a:p>
          <a:p>
            <a:pPr algn="ctr">
              <a:spcBef>
                <a:spcPts val="3500"/>
              </a:spcBef>
              <a:defRPr sz="3200" b="1">
                <a:solidFill>
                  <a:srgbClr val="10B981"/>
                </a:solidFill>
              </a:defRPr>
            </a:pPr>
            <a:r>
              <a:t>0.8250</a:t>
            </a:r>
          </a:p>
          <a:p>
            <a:pPr algn="ctr">
              <a:spcBef>
                <a:spcPts val="3000"/>
              </a:spcBef>
              <a:defRPr sz="1200">
                <a:solidFill>
                  <a:srgbClr val="1E293B"/>
                </a:solidFill>
              </a:defRPr>
            </a:pPr>
            <a:r>
              <a:t>5-Fold Stratified Cross Validation on Training Cohort (n=768)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Mendeley External AUC</a:t>
            </a:r>
          </a:p>
          <a:p>
            <a:pPr algn="ctr">
              <a:spcBef>
                <a:spcPts val="3500"/>
              </a:spcBef>
              <a:defRPr sz="3200" b="1">
                <a:solidFill>
                  <a:srgbClr val="0284C7"/>
                </a:solidFill>
              </a:defRPr>
            </a:pPr>
            <a:r>
              <a:t>0.9273</a:t>
            </a:r>
          </a:p>
          <a:p>
            <a:pPr algn="ctr">
              <a:spcBef>
                <a:spcPts val="3000"/>
              </a:spcBef>
              <a:defRPr sz="1200">
                <a:solidFill>
                  <a:srgbClr val="1E293B"/>
                </a:solidFill>
              </a:defRPr>
            </a:pPr>
            <a:r>
              <a:t>Zero-Shot Transfer on External Hospital Cohort (n=1,168)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Optimism Bias Drop (Δ AUC)</a:t>
            </a:r>
          </a:p>
          <a:p>
            <a:pPr algn="ctr">
              <a:spcBef>
                <a:spcPts val="3500"/>
              </a:spcBef>
              <a:defRPr sz="3200" b="1">
                <a:solidFill>
                  <a:srgbClr val="F59E0B"/>
                </a:solidFill>
              </a:defRPr>
            </a:pPr>
            <a:r>
              <a:t>-12.4%</a:t>
            </a:r>
          </a:p>
          <a:p>
            <a:pPr algn="ctr">
              <a:spcBef>
                <a:spcPts val="3000"/>
              </a:spcBef>
              <a:defRPr sz="1200">
                <a:solidFill>
                  <a:srgbClr val="1E293B"/>
                </a:solidFill>
              </a:defRPr>
            </a:pPr>
            <a:r>
              <a:t>Quantified Performance Shift under Real-World Transfer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MCA FINAL YEAR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11. Demographic Subgroup Fairness &amp; Age Bias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B91C1C"/>
                </a:solidFill>
              </a:defRPr>
            </a:pPr>
            <a:r>
              <a:t>Empirical Verification of the 'Age Fairness Crisis / Paradox':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Older adults (≥60 yrs) have higher clinical diabetes risk, but ML models deliver lower predictive reliability for them compared to younger cohorts (&lt;40 yrs). Subgroup AUC Gap: -0.147 (-18.5% drop).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65176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868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Demographic Subgroup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Sample Count (n)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Subgroup 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Brier Calibration 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&lt;40 yrs (Younger Cohort)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 = 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0.7920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0.1580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40-60 yrs (Middle-Age Cohort)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 = 485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0.7580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77.8%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0.1880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≥60 yrs (Older High-Risk Cohort)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 = 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91C1C"/>
                          </a:solidFill>
                        </a:defRPr>
                      </a:pPr>
                      <a:r>
                        <a:t>0.6450 (Disparity)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0.2420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MCA FINAL YEAR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12. Probability Calibration &amp; SHAP Stability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Model Probability Calibration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• Internal Pima Brier Score: 0.1420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• External Mendeley Brier Score: 0.1840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• Calibration Slope: 0.942 (Internal) vs 0.815 (External)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• Brier Score measures mean squared error between predicted probabilities and actual diagnoses (lower is better, 0.0 = perfect).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SHAP Feature Ranking Stability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Spearman Rank Correlation: ρ = 0.92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Top Clinical Predictors: Glucose &amp; BMI remain #1 and #2 across both Pima and Mendeley datasets.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Feature Importance Rank: Glucose &gt; BMI &gt; Age &gt; DiabetesPedigreeFunction &gt; Insulin &gt; BloodPressure.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MCA FINAL YEAR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13. TRIPOD-AI Compliance &amp; Clinical Disclaimer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TRIPOD-AI Standardized Reporting Audit Checklist: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Title &amp; Abstract: Identifies external dataset transfer &amp; demographic subgroup fairness.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Participants: Adult cohorts aged 21-81 with 8 diagnostic screening features.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Performance &amp; Subgroup Metrics: Reports AUC-ROC (95% CI), Brier score, and Age/Sex subgroup gaps.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Reproducibility: Full open-source codebase, synthetic generators, and execution pipeline provided.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10728655" cy="173736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91C1C"/>
                </a:solidFill>
              </a:defRPr>
            </a:pPr>
            <a:r>
              <a:t>CLINICAL DISCLAIMER &amp; RESPONSIBLE AI STATEMENT: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This system is intended for research and clinical decision-support purposes only and is not a substitute for professional medical diagnosis, advice, or treatment. Healthcare providers and analysts must independently evaluate all predictions before taking clinical action.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484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9488"/>
                </a:solidFill>
              </a:defRPr>
            </a:pPr>
            <a:r>
              <a:t>Conclusion &amp; Future Work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✔ Successfully developed PRF-BXGBOOST feature selection &amp; 6-organ complication assessment suite.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✔ Quantified internal validation optimism bias (ΔAUC = -12.4%) via Pima → Mendeley zero-shot transfer.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✔ Identified and reported age-related demographic fairness disparities in clinical ML deployment.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✔ Deployed a production full-stack application (FastAPI, React SPA, Cloud Avion MySQL) with 14 engineering modules.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✔ Future Scope: Integration with IoT wearable sensors, real-time EHR data feeds, and HL7 FHIR standards.</a:t>
            </a:r>
          </a:p>
          <a:p>
            <a:br/>
            <a:pPr algn="ctr">
              <a:spcBef>
                <a:spcPts val="2500"/>
              </a:spcBef>
              <a:defRPr sz="2200" b="1">
                <a:solidFill>
                  <a:srgbClr val="0284C7"/>
                </a:solidFill>
              </a:defRPr>
            </a:pPr>
            <a:r>
              <a:t>Thank You!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